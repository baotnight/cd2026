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2"/>
    <p:sldId id="268" r:id="rId3"/>
    <p:sldId id="263" r:id="rId4"/>
    <p:sldId id="461" r:id="rId5"/>
    <p:sldId id="474" r:id="rId6"/>
    <p:sldId id="422" r:id="rId7"/>
    <p:sldId id="477" r:id="rId8"/>
    <p:sldId id="457" r:id="rId9"/>
    <p:sldId id="479" r:id="rId10"/>
    <p:sldId id="463" r:id="rId11"/>
    <p:sldId id="480" r:id="rId12"/>
    <p:sldId id="460" r:id="rId13"/>
    <p:sldId id="481" r:id="rId1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62D1A"/>
    <a:srgbClr val="000000"/>
    <a:srgbClr val="FF0000"/>
    <a:srgbClr val="FFFF00"/>
    <a:srgbClr val="DDDDDD"/>
    <a:srgbClr val="000800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5610" autoAdjust="0"/>
  </p:normalViewPr>
  <p:slideViewPr>
    <p:cSldViewPr showGuides="1">
      <p:cViewPr varScale="1">
        <p:scale>
          <a:sx n="72" d="100"/>
          <a:sy n="72" d="100"/>
        </p:scale>
        <p:origin x="1494" y="54"/>
      </p:cViewPr>
      <p:guideLst>
        <p:guide orient="horz" pos="220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Wingdings" panose="05000000000000000000" pitchFamily="2" charset="2"/>
              <a:buNone/>
              <a:defRPr sz="1200" noProof="1">
                <a:ea typeface="宋体" pitchFamily="2" charset="-122"/>
              </a:defRPr>
            </a:lvl1pPr>
          </a:lstStyle>
          <a:p>
            <a:fld id="{0B4955F2-96A6-492D-B431-98972C2D6EB5}" type="slidenum">
              <a:rPr altLang="zh-CN"/>
              <a:t>‹#›</a:t>
            </a:fld>
            <a:endParaRPr lang="zh-CN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4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Wingdings" panose="05000000000000000000" pitchFamily="2" charset="2"/>
              <a:buNone/>
              <a:defRPr sz="1200" noProof="1">
                <a:ea typeface="宋体" pitchFamily="2" charset="-122"/>
              </a:defRPr>
            </a:lvl1pPr>
          </a:lstStyle>
          <a:p>
            <a:fld id="{3DB9FB2D-680C-4659-BA83-5723BBF11E3A}" type="slidenum">
              <a:rPr altLang="zh-CN"/>
              <a:t>‹#›</a:t>
            </a:fld>
            <a:endParaRPr lang="zh-CN" altLang="zh-CN">
              <a:ea typeface="黑体" panose="02010609060101010101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fld id="{F64EDFC4-4B88-4B81-BBDC-151F7EC08D8E}" type="slidenum">
              <a:rPr altLang="zh-CN">
                <a:ea typeface="宋体" pitchFamily="2" charset="-122"/>
                <a:sym typeface="+mn-ea"/>
              </a:rPr>
              <a:t>1</a:t>
            </a:fld>
            <a:endParaRPr lang="zh-CN" altLang="zh-CN">
              <a:ea typeface="宋体" pitchFamily="2" charset="-122"/>
              <a:sym typeface="+mn-ea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5222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fld id="{BA268C21-6DB2-4455-8C2E-144F8FD08B7A}" type="slidenum">
              <a:rPr altLang="zh-CN">
                <a:ea typeface="宋体" pitchFamily="2" charset="-122"/>
              </a:rPr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fld id="{3D201635-0E9E-4D1D-AB92-9A13010D4B24}" type="slidenum">
              <a:rPr altLang="zh-CN">
                <a:ea typeface="宋体" pitchFamily="2" charset="-122"/>
              </a:rPr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fld id="{34D27BF0-F374-4E30-B407-AD5C6217517C}" type="slidenum">
              <a:rPr altLang="zh-CN">
                <a:ea typeface="宋体" pitchFamily="2" charset="-122"/>
              </a:rPr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fld id="{34D27BF0-F374-4E30-B407-AD5C6217517C}" type="slidenum">
              <a:rPr altLang="zh-CN">
                <a:ea typeface="宋体" pitchFamily="2" charset="-122"/>
              </a:rPr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fld id="{3D201635-0E9E-4D1D-AB92-9A13010D4B24}" type="slidenum">
              <a:rPr altLang="zh-CN">
                <a:ea typeface="宋体" pitchFamily="2" charset="-122"/>
              </a:rPr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fld id="{3D201635-0E9E-4D1D-AB92-9A13010D4B24}" type="slidenum">
              <a:rPr altLang="zh-CN">
                <a:ea typeface="宋体" pitchFamily="2" charset="-122"/>
              </a:rPr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C9CC611B-A365-464B-AD41-7E9C0F618BE7}" type="slidenum">
              <a:rPr altLang="zh-CN"/>
              <a:t>‹#›</a:t>
            </a:fld>
            <a:endParaRPr lang="zh-CN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969" y="0"/>
            <a:ext cx="2971031" cy="619443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5688013" cy="4318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>
              <a:buNone/>
              <a:defRPr sz="2000"/>
            </a:lvl3pPr>
            <a:lvl4pPr>
              <a:defRPr sz="1800"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>
              <a:defRPr sz="1600"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  <a:endParaRPr lang="en-US" altLang="zh-CN" noProof="1"/>
          </a:p>
          <a:p>
            <a:pPr lvl="1"/>
            <a:r>
              <a:rPr lang="en-US" altLang="zh-CN" noProof="1"/>
              <a:t>		</a:t>
            </a:r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5E419720-B796-4193-A648-4309E40331A4}" type="slidenum">
              <a:rPr altLang="zh-CN"/>
              <a:t>‹#›</a:t>
            </a:fld>
            <a:endParaRPr lang="zh-CN" altLang="zh-CN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969" y="0"/>
            <a:ext cx="2971031" cy="619443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58F74B56-0E90-42B9-80FE-1B9B96511BE4}" type="slidenum">
              <a:rPr altLang="zh-CN"/>
              <a:t>‹#›</a:t>
            </a:fld>
            <a:endParaRPr lang="zh-CN" altLang="zh-CN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969" y="0"/>
            <a:ext cx="2971031" cy="619443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5688013" cy="4318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9750" y="1773238"/>
            <a:ext cx="3884613" cy="4032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6763" y="1773238"/>
            <a:ext cx="3884612" cy="4032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C3077B77-504C-44A3-B026-1B4277F05042}" type="slidenum">
              <a:rPr altLang="zh-CN"/>
              <a:t>‹#›</a:t>
            </a:fld>
            <a:endParaRPr lang="zh-CN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969" y="0"/>
            <a:ext cx="2971031" cy="619443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4183D21E-ECC9-462C-974A-B69B87B96F1F}" type="slidenum">
              <a:rPr altLang="zh-CN"/>
              <a:t>‹#›</a:t>
            </a:fld>
            <a:endParaRPr lang="zh-CN" altLang="zh-CN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187" y="188913"/>
            <a:ext cx="5688013" cy="4318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BB98B81B-615C-4EDC-B1A1-8DB0D1DFFD42}" type="slidenum">
              <a:rPr altLang="zh-CN"/>
              <a:t>‹#›</a:t>
            </a:fld>
            <a:endParaRPr lang="zh-CN" altLang="zh-CN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EBE3D06C-5C4D-4584-932B-1F09F3B9DA15}" type="slidenum">
              <a:rPr altLang="zh-CN"/>
              <a:t>‹#›</a:t>
            </a:fld>
            <a:endParaRPr lang="zh-CN" altLang="zh-CN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48D303BD-1855-4117-8D34-0FF282F2BC5F}" type="slidenum">
              <a:rPr altLang="zh-CN"/>
              <a:t>‹#›</a:t>
            </a:fld>
            <a:endParaRPr lang="zh-CN" altLang="zh-CN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3796F398-B4B3-4593-9706-5269F71EFF87}" type="slidenum">
              <a:rPr altLang="zh-CN"/>
              <a:t>‹#›</a:t>
            </a:fld>
            <a:endParaRPr lang="zh-CN" altLang="zh-CN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5688013" cy="4318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A559DA70-8E1F-444A-8343-8AC9AE6CD6EF}" type="slidenum">
              <a:rPr altLang="zh-CN"/>
              <a:t>‹#›</a:t>
            </a:fld>
            <a:endParaRPr lang="zh-CN" altLang="zh-CN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81763" y="188913"/>
            <a:ext cx="1979612" cy="561657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9750" y="188913"/>
            <a:ext cx="5789613" cy="56165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31F647E2-5103-4D0A-8F2B-45D6DBEC701A}" type="slidenum">
              <a:rPr altLang="zh-CN"/>
              <a:t>‹#›</a:t>
            </a:fld>
            <a:endParaRPr lang="zh-CN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39750" y="1773238"/>
            <a:ext cx="7921625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单击此处编辑母版文本样式或者添加图片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82295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Wingdings" panose="05000000000000000000" pitchFamily="2" charset="2"/>
              <a:buNone/>
              <a:defRPr sz="1000" i="1" noProof="1">
                <a:latin typeface="Myriad Pro" pitchFamily="34" charset="0"/>
                <a:ea typeface="宋体" pitchFamily="2" charset="-122"/>
                <a:cs typeface="黑体" panose="02010609060101010101" pitchFamily="49" charset="-122"/>
              </a:defRPr>
            </a:lvl1pPr>
          </a:lstStyle>
          <a:p>
            <a:r>
              <a:rPr lang="en-US" altLang="zh-CN"/>
              <a:t>page </a:t>
            </a:r>
            <a:fld id="{5E9534DC-4D89-4C55-91E0-3CDE26F14552}" type="slidenum">
              <a:rPr altLang="zh-CN"/>
              <a:t>‹#›</a:t>
            </a:fld>
            <a:endParaRPr lang="zh-CN" altLang="zh-CN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969" y="0"/>
            <a:ext cx="2971031" cy="61944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Arial" panose="020B0604020202020204" pitchFamily="34" charset="0"/>
          <a:ea typeface="汉仪中黑简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Arial" panose="020B0604020202020204" pitchFamily="34" charset="0"/>
          <a:ea typeface="汉仪中黑简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Arial" panose="020B0604020202020204" pitchFamily="34" charset="0"/>
          <a:ea typeface="汉仪中黑简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Arial" panose="020B0604020202020204" pitchFamily="34" charset="0"/>
          <a:ea typeface="汉仪中黑简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黑体" panose="02010609060101010101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黑体" panose="02010609060101010101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黑体" panose="02010609060101010101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黑体" panose="02010609060101010101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>
                <a:latin typeface="Myriad Pro" pitchFamily="34" charset="0"/>
                <a:ea typeface="宋体" pitchFamily="2" charset="-122"/>
              </a:rPr>
              <a:t>page </a:t>
            </a:r>
            <a:fld id="{AD3EA4BA-CCE7-414F-908C-EDEA4DCC9516}" type="slidenum">
              <a:rPr altLang="zh-CN">
                <a:latin typeface="Myriad Pro" pitchFamily="34" charset="0"/>
                <a:ea typeface="宋体" pitchFamily="2" charset="-122"/>
              </a:rPr>
              <a:t>1</a:t>
            </a:fld>
            <a:endParaRPr lang="zh-CN" altLang="zh-CN">
              <a:latin typeface="Myriad Pro" pitchFamily="34" charset="0"/>
              <a:ea typeface="宋体" pitchFamily="2" charset="-122"/>
            </a:endParaRPr>
          </a:p>
        </p:txBody>
      </p:sp>
      <p:sp>
        <p:nvSpPr>
          <p:cNvPr id="13315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>
              <a:solidFill>
                <a:srgbClr val="595959"/>
              </a:solidFill>
            </a:endParaRPr>
          </a:p>
        </p:txBody>
      </p:sp>
      <p:sp>
        <p:nvSpPr>
          <p:cNvPr id="13316" name="Rectangle 3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zh-CN">
              <a:solidFill>
                <a:srgbClr val="595959"/>
              </a:solidFill>
            </a:endParaRPr>
          </a:p>
        </p:txBody>
      </p:sp>
      <p:pic>
        <p:nvPicPr>
          <p:cNvPr id="13317" name="Picture 8" descr="L:\我的文件\PPT封面_龙芯中科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6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Rectangle 36"/>
          <p:cNvSpPr>
            <a:spLocks noChangeArrowheads="1"/>
          </p:cNvSpPr>
          <p:nvPr/>
        </p:nvSpPr>
        <p:spPr bwMode="auto">
          <a:xfrm>
            <a:off x="611188" y="5805488"/>
            <a:ext cx="3240087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ea typeface="华文楷体" panose="02010600040101010101" pitchFamily="2" charset="-122"/>
              </a:rPr>
              <a:t>2019.11</a:t>
            </a:r>
            <a:endParaRPr lang="zh-CN" altLang="en-US" sz="2400" dirty="0">
              <a:solidFill>
                <a:schemeClr val="tx2"/>
              </a:solidFill>
              <a:ea typeface="华文楷体" panose="02010600040101010101" pitchFamily="2" charset="-122"/>
            </a:endParaRPr>
          </a:p>
        </p:txBody>
      </p:sp>
      <p:sp>
        <p:nvSpPr>
          <p:cNvPr id="13319" name="Rectangle 37"/>
          <p:cNvSpPr>
            <a:spLocks noChangeArrowheads="1"/>
          </p:cNvSpPr>
          <p:nvPr/>
        </p:nvSpPr>
        <p:spPr bwMode="auto">
          <a:xfrm>
            <a:off x="468313" y="2492375"/>
            <a:ext cx="8064500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zh-CN" altLang="en-US" sz="4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计算机组成原理课程设计</a:t>
            </a:r>
            <a:endParaRPr lang="en-US" altLang="zh-CN" sz="4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68"/>
            <a:ext cx="9144000" cy="685086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619672" y="2390383"/>
            <a:ext cx="6480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计算机组成原理课程设计</a:t>
            </a:r>
            <a:r>
              <a:rPr lang="en-US" altLang="zh-CN" sz="4000" b="1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LA</a:t>
            </a:r>
            <a:endParaRPr lang="zh-CN" altLang="en-US" sz="4000" b="1" dirty="0">
              <a:solidFill>
                <a:schemeClr val="bg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37270" y="3871314"/>
            <a:ext cx="1884139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3200" dirty="0">
              <a:solidFill>
                <a:schemeClr val="bg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en-US" altLang="zh-CN" sz="3200" b="1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2026.9</a:t>
            </a:r>
            <a:endParaRPr lang="zh-CN" altLang="en-US" sz="3200" b="1" dirty="0">
              <a:solidFill>
                <a:schemeClr val="bg1"/>
              </a:solidFill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fld id="{54F2D5F3-9B5D-4B66-BD85-458D1171F4BE}" type="slidenum">
              <a:rPr altLang="zh-CN">
                <a:latin typeface="Myriad Pro" pitchFamily="34" charset="0"/>
                <a:ea typeface="宋体" pitchFamily="2" charset="-122"/>
              </a:rPr>
              <a:t>2</a:t>
            </a:fld>
            <a:endParaRPr lang="zh-CN" altLang="zh-CN">
              <a:latin typeface="Myriad Pro" pitchFamily="34" charset="0"/>
              <a:ea typeface="宋体" pitchFamily="2" charset="-122"/>
            </a:endParaRPr>
          </a:p>
        </p:txBody>
      </p:sp>
      <p:grpSp>
        <p:nvGrpSpPr>
          <p:cNvPr id="14340" name="Group 17"/>
          <p:cNvGrpSpPr/>
          <p:nvPr/>
        </p:nvGrpSpPr>
        <p:grpSpPr bwMode="auto">
          <a:xfrm>
            <a:off x="756519" y="1844824"/>
            <a:ext cx="7200031" cy="649287"/>
            <a:chOff x="295" y="572"/>
            <a:chExt cx="3628" cy="409"/>
          </a:xfrm>
        </p:grpSpPr>
        <p:sp>
          <p:nvSpPr>
            <p:cNvPr id="14347" name="Rectangle 14"/>
            <p:cNvSpPr>
              <a:spLocks noChangeArrowheads="1"/>
            </p:cNvSpPr>
            <p:nvPr/>
          </p:nvSpPr>
          <p:spPr bwMode="auto">
            <a:xfrm>
              <a:off x="295" y="663"/>
              <a:ext cx="3628" cy="31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4348" name="AutoShape 16"/>
            <p:cNvSpPr>
              <a:spLocks noChangeArrowheads="1"/>
            </p:cNvSpPr>
            <p:nvPr/>
          </p:nvSpPr>
          <p:spPr bwMode="auto">
            <a:xfrm>
              <a:off x="431" y="572"/>
              <a:ext cx="3266" cy="318"/>
            </a:xfrm>
            <a:prstGeom prst="roundRect">
              <a:avLst>
                <a:gd name="adj" fmla="val 16667"/>
              </a:avLst>
            </a:prstGeom>
            <a:solidFill>
              <a:srgbClr val="E62D1A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2000" b="1" dirty="0">
                  <a:solidFill>
                    <a:schemeClr val="bg1"/>
                  </a:solidFill>
                  <a:ea typeface="幼圆" panose="02010509060101010101" pitchFamily="49" charset="-122"/>
                </a:rPr>
                <a:t>一、课程设计内容</a:t>
              </a:r>
            </a:p>
          </p:txBody>
        </p:sp>
      </p:grpSp>
      <p:grpSp>
        <p:nvGrpSpPr>
          <p:cNvPr id="14341" name="Group 18"/>
          <p:cNvGrpSpPr/>
          <p:nvPr/>
        </p:nvGrpSpPr>
        <p:grpSpPr bwMode="auto">
          <a:xfrm>
            <a:off x="756518" y="2914947"/>
            <a:ext cx="7200031" cy="649287"/>
            <a:chOff x="295" y="572"/>
            <a:chExt cx="3628" cy="409"/>
          </a:xfrm>
        </p:grpSpPr>
        <p:sp>
          <p:nvSpPr>
            <p:cNvPr id="14345" name="Rectangle 19"/>
            <p:cNvSpPr>
              <a:spLocks noChangeArrowheads="1"/>
            </p:cNvSpPr>
            <p:nvPr/>
          </p:nvSpPr>
          <p:spPr bwMode="auto">
            <a:xfrm>
              <a:off x="295" y="663"/>
              <a:ext cx="3628" cy="31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4346" name="AutoShape 20"/>
            <p:cNvSpPr>
              <a:spLocks noChangeArrowheads="1"/>
            </p:cNvSpPr>
            <p:nvPr/>
          </p:nvSpPr>
          <p:spPr bwMode="auto">
            <a:xfrm>
              <a:off x="431" y="572"/>
              <a:ext cx="3266" cy="318"/>
            </a:xfrm>
            <a:prstGeom prst="roundRect">
              <a:avLst>
                <a:gd name="adj" fmla="val 16667"/>
              </a:avLst>
            </a:prstGeom>
            <a:solidFill>
              <a:srgbClr val="E62D1A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2000" b="1" dirty="0">
                  <a:solidFill>
                    <a:schemeClr val="bg1"/>
                  </a:solidFill>
                  <a:ea typeface="幼圆" panose="02010509060101010101" pitchFamily="49" charset="-122"/>
                </a:rPr>
                <a:t>二、评分标准说明</a:t>
              </a:r>
            </a:p>
          </p:txBody>
        </p:sp>
      </p:grpSp>
      <p:grpSp>
        <p:nvGrpSpPr>
          <p:cNvPr id="16" name="Group 18"/>
          <p:cNvGrpSpPr/>
          <p:nvPr>
            <p:custDataLst>
              <p:tags r:id="rId1"/>
            </p:custDataLst>
          </p:nvPr>
        </p:nvGrpSpPr>
        <p:grpSpPr bwMode="auto">
          <a:xfrm>
            <a:off x="756518" y="3985070"/>
            <a:ext cx="7200031" cy="649287"/>
            <a:chOff x="295" y="572"/>
            <a:chExt cx="3628" cy="409"/>
          </a:xfrm>
        </p:grpSpPr>
        <p:sp>
          <p:nvSpPr>
            <p:cNvPr id="17" name="Rectangle 19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95" y="663"/>
              <a:ext cx="3628" cy="31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8" name="AutoShape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31" y="572"/>
              <a:ext cx="3266" cy="318"/>
            </a:xfrm>
            <a:prstGeom prst="roundRect">
              <a:avLst>
                <a:gd name="adj" fmla="val 16667"/>
              </a:avLst>
            </a:prstGeom>
            <a:solidFill>
              <a:srgbClr val="E62D1A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2000" b="1" dirty="0">
                  <a:solidFill>
                    <a:schemeClr val="bg1"/>
                  </a:solidFill>
                  <a:ea typeface="幼圆" panose="02010509060101010101" pitchFamily="49" charset="-122"/>
                </a:rPr>
                <a:t>三、处理器功能仿真评测说明</a:t>
              </a:r>
            </a:p>
          </p:txBody>
        </p:sp>
      </p:grpSp>
      <p:sp>
        <p:nvSpPr>
          <p:cNvPr id="20" name="AutoShape 6"/>
          <p:cNvSpPr>
            <a:spLocks noChangeArrowheads="1"/>
          </p:cNvSpPr>
          <p:nvPr/>
        </p:nvSpPr>
        <p:spPr bwMode="auto">
          <a:xfrm>
            <a:off x="541339" y="476250"/>
            <a:ext cx="1798414" cy="442913"/>
          </a:xfrm>
          <a:prstGeom prst="roundRect">
            <a:avLst>
              <a:gd name="adj" fmla="val 16667"/>
            </a:avLst>
          </a:prstGeom>
          <a:solidFill>
            <a:srgbClr val="E62D1A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    纲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fld id="{056F8B8E-9A59-40FE-973E-2C92D21DACF3}" type="slidenum">
              <a:rPr altLang="zh-CN">
                <a:latin typeface="Myriad Pro" pitchFamily="34" charset="0"/>
                <a:ea typeface="宋体" pitchFamily="2" charset="-122"/>
              </a:rPr>
              <a:t>3</a:t>
            </a:fld>
            <a:endParaRPr lang="zh-CN" altLang="zh-CN">
              <a:latin typeface="Myriad Pro" pitchFamily="34" charset="0"/>
              <a:ea typeface="宋体" pitchFamily="2" charset="-122"/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611188" y="2133600"/>
            <a:ext cx="7632700" cy="19081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zh-CN" altLang="en-US" sz="3200" b="1" dirty="0">
                <a:solidFill>
                  <a:srgbClr val="C8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一、课程设计内容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灯片编号占位符 5"/>
          <p:cNvSpPr txBox="1">
            <a:spLocks noGrp="1" noChangeArrowheads="1"/>
          </p:cNvSpPr>
          <p:nvPr/>
        </p:nvSpPr>
        <p:spPr bwMode="auto">
          <a:xfrm>
            <a:off x="582295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B6D2C0E2-E906-4B03-99B2-736C4ED405CD}" type="slidenum">
              <a:rPr lang="en-US" altLang="zh-CN" sz="1000" i="1">
                <a:solidFill>
                  <a:srgbClr val="000000"/>
                </a:solidFill>
                <a:ea typeface="宋体" pitchFamily="2" charset="-122"/>
              </a:rPr>
              <a:t>4</a:t>
            </a:fld>
            <a:endParaRPr lang="en-US" altLang="zh-CN" sz="1000" i="1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6388" name="AutoShape 6"/>
          <p:cNvSpPr>
            <a:spLocks noChangeArrowheads="1"/>
          </p:cNvSpPr>
          <p:nvPr/>
        </p:nvSpPr>
        <p:spPr bwMode="auto">
          <a:xfrm>
            <a:off x="541338" y="476250"/>
            <a:ext cx="2662237" cy="442913"/>
          </a:xfrm>
          <a:prstGeom prst="roundRect">
            <a:avLst>
              <a:gd name="adj" fmla="val 16667"/>
            </a:avLst>
          </a:prstGeom>
          <a:solidFill>
            <a:srgbClr val="E62D1A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课程设计目标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55576" y="1772816"/>
            <a:ext cx="7488832" cy="2977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 eaLnBrk="1" hangingPunct="1">
              <a:lnSpc>
                <a:spcPts val="25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学会流水线处理器的设计方法以及设计中的关键技术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eaLnBrk="1" hangingPunct="1">
              <a:lnSpc>
                <a:spcPts val="2500"/>
              </a:lnSpc>
              <a:buFont typeface="Wingdings" panose="05000000000000000000" pitchFamily="2" charset="2"/>
              <a:buChar char="n"/>
              <a:defRPr/>
            </a:pP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eaLnBrk="1" hangingPunct="1">
              <a:lnSpc>
                <a:spcPts val="25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掌握处理器设计过程中指令扩展的方法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eaLnBrk="1" hangingPunct="1">
              <a:lnSpc>
                <a:spcPts val="2500"/>
              </a:lnSpc>
              <a:buFont typeface="Wingdings" panose="05000000000000000000" pitchFamily="2" charset="2"/>
              <a:buChar char="n"/>
              <a:defRPr/>
            </a:pP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eaLnBrk="1" hangingPunct="1">
              <a:lnSpc>
                <a:spcPts val="25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能够运用现代工具独立实现一个较完整的处理器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eaLnBrk="1" hangingPunct="1">
              <a:lnSpc>
                <a:spcPts val="2500"/>
              </a:lnSpc>
              <a:buFont typeface="Wingdings" panose="05000000000000000000" pitchFamily="2" charset="2"/>
              <a:buChar char="n"/>
              <a:defRPr/>
            </a:pP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eaLnBrk="1" hangingPunct="1">
              <a:lnSpc>
                <a:spcPts val="25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了解处理器功能测试的方法：仿真测试及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FPGA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eaLnBrk="1" hangingPunct="1">
              <a:lnSpc>
                <a:spcPts val="2500"/>
              </a:lnSpc>
              <a:buFont typeface="Wingdings" panose="05000000000000000000" pitchFamily="2" charset="2"/>
              <a:buChar char="n"/>
              <a:defRPr/>
            </a:pP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eaLnBrk="1" hangingPunct="1">
              <a:lnSpc>
                <a:spcPts val="25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通过阅读资料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动手实践，逐步建立计算机系统观。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灯片编号占位符 5"/>
          <p:cNvSpPr txBox="1">
            <a:spLocks noGrp="1" noChangeArrowheads="1"/>
          </p:cNvSpPr>
          <p:nvPr/>
        </p:nvSpPr>
        <p:spPr bwMode="auto">
          <a:xfrm>
            <a:off x="582295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B6D2C0E2-E906-4B03-99B2-736C4ED405CD}" type="slidenum">
              <a:rPr lang="en-US" altLang="zh-CN" sz="1000" i="1">
                <a:solidFill>
                  <a:srgbClr val="000000"/>
                </a:solidFill>
                <a:ea typeface="宋体" pitchFamily="2" charset="-122"/>
              </a:rPr>
              <a:t>5</a:t>
            </a:fld>
            <a:endParaRPr lang="en-US" altLang="zh-CN" sz="1000" i="1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6388" name="AutoShape 6"/>
          <p:cNvSpPr>
            <a:spLocks noChangeArrowheads="1"/>
          </p:cNvSpPr>
          <p:nvPr/>
        </p:nvSpPr>
        <p:spPr bwMode="auto">
          <a:xfrm>
            <a:off x="541338" y="476250"/>
            <a:ext cx="2662237" cy="442913"/>
          </a:xfrm>
          <a:prstGeom prst="roundRect">
            <a:avLst>
              <a:gd name="adj" fmla="val 16667"/>
            </a:avLst>
          </a:prstGeom>
          <a:solidFill>
            <a:srgbClr val="E62D1A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课程设计内容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22592" y="1343667"/>
            <a:ext cx="8289403" cy="2738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 algn="just" eaLnBrk="1" hangingPunct="1">
              <a:lnSpc>
                <a:spcPct val="16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实验指导书完成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前五个章节的设计，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每个实验完成后需要找助教验收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，同时完成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龙芯个人赛校内平台的线上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测评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，并撰写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实验报告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个人部分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【60】  </a:t>
            </a:r>
          </a:p>
          <a:p>
            <a:pPr marL="0" lvl="1" indent="0" algn="just" eaLnBrk="1" hangingPunct="1">
              <a:lnSpc>
                <a:spcPct val="160000"/>
              </a:lnSpc>
              <a:buNone/>
              <a:defRPr/>
            </a:pP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algn="just" eaLnBrk="1" hangingPunct="1">
              <a:lnSpc>
                <a:spcPct val="16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小组合作完成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创新基础部分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（异常相关指令扩展）和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创新扩展部分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（分支预测、缓存模块设计、外设功能扩展等），最终成果以小组为单位进行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演示答辩，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并撰写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实验报告—团队部分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4022" y="1057572"/>
            <a:ext cx="8135937" cy="4679950"/>
          </a:xfrm>
        </p:spPr>
        <p:txBody>
          <a:bodyPr/>
          <a:lstStyle/>
          <a:p>
            <a:pPr marL="285750"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课程讲义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</a:t>
            </a:r>
            <a:r>
              <a:rPr lang="en-US" altLang="zh-CN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pdf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计组课设指导书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版-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2025.pdf</a:t>
            </a:r>
          </a:p>
          <a:p>
            <a:pPr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l"/>
              <a:defRPr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单周期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LA32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处理器工程模板</a:t>
            </a:r>
          </a:p>
          <a:p>
            <a:pPr marL="0" lvl="1" indent="457200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  <a:cs typeface="+mn-cs"/>
              </a:rPr>
              <a:t>请自主扩展为五级流水线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n"/>
              <a:defRPr/>
            </a:pP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n"/>
              <a:defRPr/>
            </a:pP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Appendix/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A01 LA32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指令集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A02 2018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年计组课设指导书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A03 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LA32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单周期处理器手册（含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gettrace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使用方法）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A04 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CPU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仿真调试说明</a:t>
            </a:r>
          </a:p>
          <a:p>
            <a:pPr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如需《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CPU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设计实战</a:t>
            </a:r>
            <a:r>
              <a:rPr lang="en-US" altLang="zh-CN" sz="1800" dirty="0" err="1">
                <a:latin typeface="微软雅黑" charset="0"/>
                <a:ea typeface="微软雅黑" charset="0"/>
              </a:rPr>
              <a:t>LoongArch</a:t>
            </a:r>
            <a:r>
              <a:rPr lang="zh-CN" altLang="zh-CN" sz="1800" dirty="0">
                <a:latin typeface="微软雅黑" charset="0"/>
                <a:ea typeface="微软雅黑" charset="0"/>
              </a:rPr>
              <a:t>版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》电子书，请访问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https://bookdown.org/loongson/_book3/</a:t>
            </a:r>
          </a:p>
        </p:txBody>
      </p:sp>
      <p:sp>
        <p:nvSpPr>
          <p:cNvPr id="17411" name="灯片编号占位符 5"/>
          <p:cNvSpPr txBox="1">
            <a:spLocks noGrp="1" noChangeArrowheads="1"/>
          </p:cNvSpPr>
          <p:nvPr/>
        </p:nvSpPr>
        <p:spPr bwMode="auto">
          <a:xfrm>
            <a:off x="582295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09F9342C-7C3B-4CFA-B2C0-BC04BA1B1914}" type="slidenum">
              <a:rPr lang="en-US" altLang="zh-CN" sz="1000" i="1">
                <a:solidFill>
                  <a:srgbClr val="000000"/>
                </a:solidFill>
                <a:ea typeface="宋体" pitchFamily="2" charset="-122"/>
              </a:rPr>
              <a:t>6</a:t>
            </a:fld>
            <a:endParaRPr lang="en-US" altLang="zh-CN" sz="1000" i="1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2" name="AutoShape 6"/>
          <p:cNvSpPr>
            <a:spLocks noChangeArrowheads="1"/>
          </p:cNvSpPr>
          <p:nvPr/>
        </p:nvSpPr>
        <p:spPr bwMode="auto">
          <a:xfrm>
            <a:off x="541338" y="476250"/>
            <a:ext cx="4318000" cy="442913"/>
          </a:xfrm>
          <a:prstGeom prst="roundRect">
            <a:avLst>
              <a:gd name="adj" fmla="val 16667"/>
            </a:avLst>
          </a:prstGeom>
          <a:solidFill>
            <a:srgbClr val="E62D1A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计算机组成原理课程设计资料包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3985" y="1310381"/>
            <a:ext cx="8135937" cy="4679950"/>
          </a:xfrm>
        </p:spPr>
        <p:txBody>
          <a:bodyPr/>
          <a:lstStyle/>
          <a:p>
            <a:pPr marL="0" lvl="1" indent="0"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如需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进行线上测试，请访问 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https://gitee.com/loongson-edu/cdp_ede_remote</a:t>
            </a:r>
          </a:p>
          <a:p>
            <a:pPr marL="0" lvl="1" indent="0"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使用方法：</a:t>
            </a:r>
          </a:p>
          <a:p>
            <a:pPr marL="0" lvl="1" indent="0" eaLnBrk="1" hangingPunct="1">
              <a:lnSpc>
                <a:spcPct val="150000"/>
              </a:lnSpc>
              <a:spcBef>
                <a:spcPct val="0"/>
              </a:spcBef>
              <a:defRPr/>
            </a:pP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下载或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clone CPU_CDE_local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仓库</a:t>
            </a:r>
          </a:p>
          <a:p>
            <a:pPr marL="0" lvl="1" indent="0"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CPU_CDE_local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vivado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</a:t>
            </a:r>
          </a:p>
          <a:p>
            <a:pPr marL="0" lvl="1" indent="0"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在工程中添加本仓库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根目录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remote2local.v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design sources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（设计文件）</a:t>
            </a:r>
          </a:p>
          <a:p>
            <a:pPr marL="0" lvl="1" indent="0"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在工程中添加本仓库中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相应实验目录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loongson_remote_top.v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design sources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（设计文件）</a:t>
            </a:r>
          </a:p>
          <a:p>
            <a:pPr marL="0" lvl="1" indent="0"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5.disable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工程中原有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xdc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</a:p>
          <a:p>
            <a:pPr marL="0" lvl="1" indent="0"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在工程中添加本仓库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根目录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loongson_remote.xdc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constraints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（约束文件）</a:t>
            </a:r>
          </a:p>
          <a:p>
            <a:pPr marL="0" lvl="1" indent="0"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（可选）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如果工程中存在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pll.clk_pll,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将工程中原有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pll.clk_pll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Clocking Options -&gt; Input Clock information -&gt; Primary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input Frequency(MHz)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值修改为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50.000</a:t>
            </a:r>
          </a:p>
        </p:txBody>
      </p:sp>
      <p:sp>
        <p:nvSpPr>
          <p:cNvPr id="17411" name="灯片编号占位符 5"/>
          <p:cNvSpPr txBox="1">
            <a:spLocks noGrp="1" noChangeArrowheads="1"/>
          </p:cNvSpPr>
          <p:nvPr/>
        </p:nvSpPr>
        <p:spPr bwMode="auto">
          <a:xfrm>
            <a:off x="582295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09F9342C-7C3B-4CFA-B2C0-BC04BA1B1914}" type="slidenum">
              <a:rPr lang="en-US" altLang="zh-CN" sz="1000" i="1">
                <a:solidFill>
                  <a:srgbClr val="000000"/>
                </a:solidFill>
                <a:ea typeface="宋体" pitchFamily="2" charset="-122"/>
              </a:rPr>
              <a:t>7</a:t>
            </a:fld>
            <a:endParaRPr lang="en-US" altLang="zh-CN" sz="1000" i="1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2" name="AutoShape 6"/>
          <p:cNvSpPr>
            <a:spLocks noChangeArrowheads="1"/>
          </p:cNvSpPr>
          <p:nvPr/>
        </p:nvSpPr>
        <p:spPr bwMode="auto">
          <a:xfrm>
            <a:off x="541338" y="476250"/>
            <a:ext cx="4318000" cy="442913"/>
          </a:xfrm>
          <a:prstGeom prst="roundRect">
            <a:avLst>
              <a:gd name="adj" fmla="val 16667"/>
            </a:avLst>
          </a:prstGeom>
          <a:solidFill>
            <a:srgbClr val="E62D1A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计算机组成原理课程设计资料包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fld id="{056F8B8E-9A59-40FE-973E-2C92D21DACF3}" type="slidenum">
              <a:rPr altLang="zh-CN">
                <a:latin typeface="Myriad Pro" pitchFamily="34" charset="0"/>
                <a:ea typeface="宋体" pitchFamily="2" charset="-122"/>
              </a:rPr>
              <a:t>8</a:t>
            </a:fld>
            <a:endParaRPr lang="zh-CN" altLang="zh-CN">
              <a:latin typeface="Myriad Pro" pitchFamily="34" charset="0"/>
              <a:ea typeface="宋体" pitchFamily="2" charset="-122"/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611188" y="2133600"/>
            <a:ext cx="7632700" cy="19081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zh-CN" altLang="en-US" sz="3200" b="1" dirty="0">
                <a:solidFill>
                  <a:srgbClr val="C8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二、评分标准说明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1377" y="1245618"/>
            <a:ext cx="8532465" cy="4679950"/>
          </a:xfrm>
        </p:spPr>
        <p:txBody>
          <a:bodyPr/>
          <a:lstStyle/>
          <a:p>
            <a:pPr marL="0" lvl="1" indent="0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个人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部分 共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60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</a:t>
            </a:r>
          </a:p>
          <a:p>
            <a:pPr marL="0" lvl="1" indent="0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根据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实验指导书完成前五个章节（个人） 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50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</a:t>
            </a:r>
          </a:p>
          <a:p>
            <a:pPr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不考虑冲突的简单五级流水划分；</a:t>
            </a:r>
          </a:p>
          <a:p>
            <a:pPr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1800" dirty="0">
                <a:latin typeface="微软雅黑" charset="0"/>
                <a:ea typeface="微软雅黑" charset="0"/>
              </a:rPr>
              <a:t>指令相关和流水线冲突；</a:t>
            </a:r>
          </a:p>
          <a:p>
            <a:pPr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1800" dirty="0">
                <a:latin typeface="微软雅黑" charset="0"/>
                <a:ea typeface="微软雅黑" charset="0"/>
              </a:rPr>
              <a:t>算术逻辑转移类指令的添加；</a:t>
            </a:r>
          </a:p>
          <a:p>
            <a:pPr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1800" dirty="0">
                <a:latin typeface="微软雅黑" charset="0"/>
                <a:ea typeface="微软雅黑" charset="0"/>
              </a:rPr>
              <a:t>访存指令的添加；</a:t>
            </a:r>
          </a:p>
          <a:p>
            <a:pPr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乘除法指令的添加。</a:t>
            </a:r>
          </a:p>
          <a:p>
            <a:pPr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l"/>
              <a:defRPr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实验报告—个人部分 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</a:p>
          <a:p>
            <a:pPr marL="285750"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</a:rPr>
              <a:t>实验扩展—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龙芯个人赛校内平台的在线测评 </a:t>
            </a:r>
          </a:p>
          <a:p>
            <a:pPr marL="0" lvl="1" indent="0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endParaRPr lang="zh-CN" altLang="en-US" sz="1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11" name="灯片编号占位符 5"/>
          <p:cNvSpPr txBox="1">
            <a:spLocks noGrp="1" noChangeArrowheads="1"/>
          </p:cNvSpPr>
          <p:nvPr/>
        </p:nvSpPr>
        <p:spPr bwMode="auto">
          <a:xfrm>
            <a:off x="582295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09F9342C-7C3B-4CFA-B2C0-BC04BA1B1914}" type="slidenum">
              <a:rPr lang="en-US" altLang="zh-CN" sz="1000" i="1">
                <a:solidFill>
                  <a:srgbClr val="000000"/>
                </a:solidFill>
                <a:ea typeface="宋体" pitchFamily="2" charset="-122"/>
              </a:rPr>
              <a:t>9</a:t>
            </a:fld>
            <a:endParaRPr lang="en-US" altLang="zh-CN" sz="1000" i="1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2" name="AutoShape 6"/>
          <p:cNvSpPr>
            <a:spLocks noChangeArrowheads="1"/>
          </p:cNvSpPr>
          <p:nvPr/>
        </p:nvSpPr>
        <p:spPr bwMode="auto">
          <a:xfrm>
            <a:off x="541338" y="476250"/>
            <a:ext cx="2950542" cy="442913"/>
          </a:xfrm>
          <a:prstGeom prst="roundRect">
            <a:avLst>
              <a:gd name="adj" fmla="val 16667"/>
            </a:avLst>
          </a:prstGeom>
          <a:solidFill>
            <a:srgbClr val="E62D1A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评分标准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1377" y="1089025"/>
            <a:ext cx="8532465" cy="4679950"/>
          </a:xfrm>
        </p:spPr>
        <p:txBody>
          <a:bodyPr/>
          <a:lstStyle/>
          <a:p>
            <a:pPr marL="0" lvl="1" indent="0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团队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部分 共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40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</a:t>
            </a:r>
          </a:p>
          <a:p>
            <a:pPr marL="0" lvl="1" indent="0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完成创新基础部分的扩展 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20~25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分（待定）</a:t>
            </a:r>
          </a:p>
          <a:p>
            <a:pPr marL="457200" lvl="2" indent="0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  <a:cs typeface="+mn-cs"/>
              </a:rPr>
              <a:t>异常相关指令扩展（根据指导书的最后一章，实现异常和中断支持）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第一阶段：</a:t>
            </a:r>
          </a:p>
          <a:p>
            <a:pPr marL="457200" lvl="2" indent="457200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□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增加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csrrd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csrwr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csrxchg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ertn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指令；</a:t>
            </a:r>
          </a:p>
          <a:p>
            <a:pPr marL="457200" lvl="2" indent="457200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□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CPU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增加控制状态寄存器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CRMD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PRMD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ESTAT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ERA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		  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EENTRY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SAVE0-3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</a:p>
          <a:p>
            <a:pPr marL="457200" lvl="2" indent="457200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□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CPU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增加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syscall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指令，实现系统调用异常支持。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第二阶段：</a:t>
            </a:r>
          </a:p>
          <a:p>
            <a:pPr marL="457200" lvl="1" indent="457200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□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增加取指地址错（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ADEF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）、地址非对齐（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ALE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）、断点（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BRK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）和指令	   不存在（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INE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）异常的支持；</a:t>
            </a:r>
          </a:p>
          <a:p>
            <a:pPr marL="457200" lvl="1" indent="457200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□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增加中断的支持，包括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个软件中断、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个硬件中断和定时器中断；</a:t>
            </a:r>
          </a:p>
          <a:p>
            <a:pPr marL="457200" lvl="1" indent="457200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□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rdcntvl.w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rdcntvh.w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rdcntid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指令；</a:t>
            </a:r>
          </a:p>
          <a:p>
            <a:pPr marL="457200" lvl="1" indent="457200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□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增加控制状态寄存器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ECFG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BADV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TID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TCFG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TVAL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TICLR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11" name="灯片编号占位符 5"/>
          <p:cNvSpPr txBox="1">
            <a:spLocks noGrp="1" noChangeArrowheads="1"/>
          </p:cNvSpPr>
          <p:nvPr/>
        </p:nvSpPr>
        <p:spPr bwMode="auto">
          <a:xfrm>
            <a:off x="582295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09F9342C-7C3B-4CFA-B2C0-BC04BA1B1914}" type="slidenum">
              <a:rPr lang="en-US" altLang="zh-CN" sz="1000" i="1">
                <a:solidFill>
                  <a:srgbClr val="000000"/>
                </a:solidFill>
                <a:ea typeface="宋体" pitchFamily="2" charset="-122"/>
              </a:rPr>
              <a:t>10</a:t>
            </a:fld>
            <a:endParaRPr lang="en-US" altLang="zh-CN" sz="1000" i="1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2" name="AutoShape 6"/>
          <p:cNvSpPr>
            <a:spLocks noChangeArrowheads="1"/>
          </p:cNvSpPr>
          <p:nvPr/>
        </p:nvSpPr>
        <p:spPr bwMode="auto">
          <a:xfrm>
            <a:off x="541338" y="476250"/>
            <a:ext cx="2950542" cy="442913"/>
          </a:xfrm>
          <a:prstGeom prst="roundRect">
            <a:avLst>
              <a:gd name="adj" fmla="val 16667"/>
            </a:avLst>
          </a:prstGeom>
          <a:solidFill>
            <a:srgbClr val="E62D1A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评分标准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1377" y="919163"/>
            <a:ext cx="8532465" cy="4679950"/>
          </a:xfrm>
        </p:spPr>
        <p:txBody>
          <a:bodyPr/>
          <a:lstStyle/>
          <a:p>
            <a:pPr marL="0" lvl="1" indent="0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lvl="0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完成创新扩展部分的扩展 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5~10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分（待定）</a:t>
            </a:r>
          </a:p>
          <a:p>
            <a:pPr marL="457200" lvl="2" indent="0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  <a:cs typeface="+mn-cs"/>
              </a:rPr>
              <a:t>异常相关指令扩展（根据指导书的最后一章，实现异常和中断支持）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分支预测</a:t>
            </a:r>
          </a:p>
          <a:p>
            <a:pPr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缓存模块设计</a:t>
            </a:r>
          </a:p>
          <a:p>
            <a:pPr marL="457200" lvl="1" indent="457200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 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是现代计算机中不可缺少的技术。</a:t>
            </a:r>
          </a:p>
          <a:p>
            <a:pPr marL="457200" lvl="1" indent="457200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□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 - Cache</a:t>
            </a: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457200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□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D-Cache </a:t>
            </a: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外设功能扩展：</a:t>
            </a:r>
          </a:p>
          <a:p>
            <a:pPr marL="457200" lvl="1" indent="457200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□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通过汇编语言代码对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SoC 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上已经提供实现了的外设进行操控；</a:t>
            </a:r>
          </a:p>
          <a:p>
            <a:pPr marL="457200" lvl="1" indent="457200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□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集成串口外设，并能通过汇编语言代码操纵外设。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457200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 eaLnBrk="1" hangingPunct="1">
              <a:lnSpc>
                <a:spcPts val="2500"/>
              </a:lnSpc>
              <a:spcBef>
                <a:spcPct val="0"/>
              </a:spcBef>
              <a:buFont typeface="Wingdings" charset="0"/>
              <a:buChar char="n"/>
              <a:defRPr/>
            </a:pP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实验报告—团队部分 </a:t>
            </a:r>
            <a:r>
              <a:rPr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</a:p>
        </p:txBody>
      </p:sp>
      <p:sp>
        <p:nvSpPr>
          <p:cNvPr id="17411" name="灯片编号占位符 5"/>
          <p:cNvSpPr txBox="1">
            <a:spLocks noGrp="1" noChangeArrowheads="1"/>
          </p:cNvSpPr>
          <p:nvPr/>
        </p:nvSpPr>
        <p:spPr bwMode="auto">
          <a:xfrm>
            <a:off x="582295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09F9342C-7C3B-4CFA-B2C0-BC04BA1B1914}" type="slidenum">
              <a:rPr lang="en-US" altLang="zh-CN" sz="1000" i="1">
                <a:solidFill>
                  <a:srgbClr val="000000"/>
                </a:solidFill>
                <a:ea typeface="宋体" pitchFamily="2" charset="-122"/>
              </a:rPr>
              <a:t>11</a:t>
            </a:fld>
            <a:endParaRPr lang="en-US" altLang="zh-CN" sz="1000" i="1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2" name="AutoShape 6"/>
          <p:cNvSpPr>
            <a:spLocks noChangeArrowheads="1"/>
          </p:cNvSpPr>
          <p:nvPr/>
        </p:nvSpPr>
        <p:spPr bwMode="auto">
          <a:xfrm>
            <a:off x="541338" y="476250"/>
            <a:ext cx="2950542" cy="442913"/>
          </a:xfrm>
          <a:prstGeom prst="roundRect">
            <a:avLst>
              <a:gd name="adj" fmla="val 16667"/>
            </a:avLst>
          </a:prstGeom>
          <a:solidFill>
            <a:srgbClr val="E62D1A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评分标准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fld id="{056F8B8E-9A59-40FE-973E-2C92D21DACF3}" type="slidenum">
              <a:rPr altLang="zh-CN">
                <a:latin typeface="Myriad Pro" pitchFamily="34" charset="0"/>
                <a:ea typeface="宋体" pitchFamily="2" charset="-122"/>
              </a:rPr>
              <a:t>12</a:t>
            </a:fld>
            <a:endParaRPr lang="zh-CN" altLang="zh-CN">
              <a:latin typeface="Myriad Pro" pitchFamily="34" charset="0"/>
              <a:ea typeface="宋体" pitchFamily="2" charset="-122"/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611188" y="2133600"/>
            <a:ext cx="8065268" cy="19081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C8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三、处理器功能仿真评测说明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75DB87A-84F2-0186-8C4B-417807FC6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57" y="764704"/>
            <a:ext cx="8314286" cy="5571429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8.49992125984255,&quot;left&quot;:59.568425196850384,&quot;top&quot;:258.76173228346454,&quot;width&quot;:566.931574803149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8.49992125984255,&quot;left&quot;:59.568425196850384,&quot;top&quot;:258.76173228346454,&quot;width&quot;:566.931574803149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8.49992125984255,&quot;left&quot;:59.568425196850384,&quot;top&quot;:258.76173228346454,&quot;width&quot;:566.9315748031496}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839</Words>
  <Application>Microsoft Office PowerPoint</Application>
  <PresentationFormat>全屏显示(4:3)</PresentationFormat>
  <Paragraphs>109</Paragraphs>
  <Slides>13</Slides>
  <Notes>7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Myriad Pro</vt:lpstr>
      <vt:lpstr>黑体</vt:lpstr>
      <vt:lpstr>华文楷体</vt:lpstr>
      <vt:lpstr>华文细黑</vt:lpstr>
      <vt:lpstr>宋体</vt:lpstr>
      <vt:lpstr>微软雅黑</vt:lpstr>
      <vt:lpstr>幼圆</vt:lpstr>
      <vt:lpstr>Arial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wwx</dc:creator>
  <cp:lastModifiedBy>MsZhang</cp:lastModifiedBy>
  <cp:revision>13</cp:revision>
  <dcterms:created xsi:type="dcterms:W3CDTF">2025-09-01T13:17:47Z</dcterms:created>
  <dcterms:modified xsi:type="dcterms:W3CDTF">2026-09-07T10:31:13Z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2052-12.9.0.22561</vt:lpwstr>
  </property>
  <property fmtid="{D5CDD505-2E9C-101B-9397-08002B2CF9AE}" pid="3" name="ICV">
    <vt:lpwstr>40909EE4C4E24965B66021B0584BFBD6_12</vt:lpwstr>
  </property>
</Properties>
</file>